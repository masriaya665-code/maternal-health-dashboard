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48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ternal-health-dashboard-pmu2wupa6nfyvcrmtthxtn.streamlit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HEALTH ANALYTICS DASHBOARD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Dashboard for Global and Clinical Insight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2286000" cy="0"/>
          </a:xfrm>
          <a:prstGeom prst="line">
            <a:avLst/>
          </a:prstGeom>
          <a:noFill/>
          <a:ln w="25400">
            <a:solidFill>
              <a:srgbClr val="8B2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Aya Masri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4290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die every day from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causes related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pregnancy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290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60020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maternal deaths occur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 and middle-income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2900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60020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&lt;70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21040" y="22402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SDG 3.1 target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by 2030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100,000 births)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mortality is one of the clearest markers of how well a health system serves its population. Despite steady global progress since 1990, the burden remains heavily concentrated in Sub-Saharan Africa and South Asia, reflecting persistent gaps in access to skilled birth attendance, antenatal care, and emergency obstetric services.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responds to that gap by building an analytics tool that lets healthcare decision-makers explore the problem from both a population and an individual patient lens.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Prior Research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990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UNICEF / UNFPA / World Bank (2023)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joint estimation report tracks MMR from 2000-2020 and confirms global mortality fell by roughly 34% over two decades, yet progress has slowed since 2016, putting the SDG 3.1 target out of reach on current trends.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8620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Goal 3.1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global target of fewer than 70 maternal deaths per 100,000 live births by 2030 - the benchmark this project uses to frame country and regional performance.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3251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risk prediction literature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663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(e.g. Ahmed et al., the source of our patient dataset) shows that vitals such as blood pressure and blood sugar are reliable, low-cost predictors of maternal risk - supporting machine-learning-based early screening tools like the one built here.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349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Maternal Mortality Ratio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MNCAH Data Portal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185+ countries, 1985-2023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value, WHO region, World Bank income group, confidence intervals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5349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Health Risk Dataset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UCI ML Repository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1,014 patient records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blood pressure, blood sugar, temperature, heart rate, risk level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datasets were kept separate and used on dedicated dashboard pages, since they operate at different units of analysis - country-year versus individual patient.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246888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WHO Excel data and Kaggle CSV; verified zero nulls; encoded risk labels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46888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00200"/>
            <a:ext cx="457200" cy="4572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9000" y="2560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6-page Streamlit app: Overview, Trends, Map, Regional, Patient Explorer, Predictor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46888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72200" y="2560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Classifier, 80/20 split, 100 trees, ~82% test accuracy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0" y="1463040"/>
            <a:ext cx="246888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1600200"/>
            <a:ext cx="457200" cy="4572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8915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154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915400" y="2560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GitHub, deployed on Streamlit Community Cloud with password protection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Python, Streamlit, Plotly, Pandas, Scikit-learn, GitHub, Streamlit Community Cloud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Picture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x2/charts/kp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97865"/>
            <a:ext cx="11247120" cy="2679189"/>
          </a:xfrm>
          <a:prstGeom prst="rect">
            <a:avLst/>
          </a:prstGeom>
        </p:spPr>
      </p:pic>
      <p:pic>
        <p:nvPicPr>
          <p:cNvPr id="6" name="Image 1" descr="/home/claude/pptx2/chart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68496"/>
            <a:ext cx="3749040" cy="2011680"/>
          </a:xfrm>
          <a:prstGeom prst="rect">
            <a:avLst/>
          </a:prstGeom>
        </p:spPr>
      </p:pic>
      <p:pic>
        <p:nvPicPr>
          <p:cNvPr id="7" name="Image 2" descr="/home/claude/pptx2/charts/region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968496"/>
            <a:ext cx="3749040" cy="2011680"/>
          </a:xfrm>
          <a:prstGeom prst="rect">
            <a:avLst/>
          </a:prstGeom>
        </p:spPr>
      </p:pic>
      <p:pic>
        <p:nvPicPr>
          <p:cNvPr id="8" name="Image 3" descr="/home/claude/pptx2/charts/income_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968496"/>
            <a:ext cx="3749040" cy="20116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0040" y="6035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4206240" y="6035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Trend (1985-2023)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8092440" y="6035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 Distribution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36576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carries the highest regional burden; low-income countries show the widest spread in outcomes.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Picture &amp; Top Burden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/home/claude/pptx2/charts/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749040" cy="4114800"/>
          </a:xfrm>
          <a:prstGeom prst="rect">
            <a:avLst/>
          </a:prstGeom>
        </p:spPr>
      </p:pic>
      <p:pic>
        <p:nvPicPr>
          <p:cNvPr id="6" name="Image 1" descr="/home/claude/pptx2/charts/risk_p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80160"/>
            <a:ext cx="3749040" cy="2011680"/>
          </a:xfrm>
          <a:prstGeom prst="rect">
            <a:avLst/>
          </a:prstGeom>
        </p:spPr>
      </p:pic>
      <p:pic>
        <p:nvPicPr>
          <p:cNvPr id="7" name="Image 2" descr="/home/claude/pptx2/charts/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429000"/>
            <a:ext cx="3749040" cy="2011680"/>
          </a:xfrm>
          <a:prstGeom prst="rect">
            <a:avLst/>
          </a:prstGeom>
        </p:spPr>
      </p:pic>
      <p:pic>
        <p:nvPicPr>
          <p:cNvPr id="8" name="Image 3" descr="/home/claude/pptx2/charts/income_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280160"/>
            <a:ext cx="3749040" cy="20116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7200" y="5486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Countries by MMR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4343400" y="33192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Risk Distribution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4343400" y="5486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(ML Model)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8229600" y="33192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 Spread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8229600" y="36576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sugar and systolic blood pressure are the strongest predictors of patient risk; Nigeria, Chad, and South Sudan top the country burden.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2468880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MMR (2023)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100,000 live births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468880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5727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194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global MMR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1985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468880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5727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72200" y="2194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MMR in 2023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1463040"/>
            <a:ext cx="2468880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15727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15400" y="2194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 model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carries the highest regional burden by a wide margin, and a strong income gradient persists: low-income countries average over 350 per 100,000, compared to near zero in high-income countries. Blood sugar and systolic blood pressure emerged as the strongest clinical predictors of patient risk.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interventions toward Sub-Saharan Africa, where the burden is highest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219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routine blood sugar and blood pressure screening in antenatal care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9352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international health financing toward low-income countries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36027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6484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training dataset to improve model accuracy and generalizability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3159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3616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visible SDG 3.1 target line to trend charts for ongoing monitoring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live dashboard:</a:t>
            </a:r>
            <a:endParaRPr lang="en-US" sz="15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8B29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maternal-health-dashboard-pmu2wupa6nfyvcrmtthxtn.streamlit.app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728</Words>
  <Application>Microsoft Office PowerPoint</Application>
  <PresentationFormat>Widescreen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 Analytics Dashboard</dc:title>
  <dc:subject>PptxGenJS Presentation</dc:subject>
  <dc:creator>Aya Masri</dc:creator>
  <cp:lastModifiedBy>Aya El Masri (Student)</cp:lastModifiedBy>
  <cp:revision>2</cp:revision>
  <dcterms:created xsi:type="dcterms:W3CDTF">2026-06-30T20:32:22Z</dcterms:created>
  <dcterms:modified xsi:type="dcterms:W3CDTF">2026-06-30T20:36:47Z</dcterms:modified>
</cp:coreProperties>
</file>